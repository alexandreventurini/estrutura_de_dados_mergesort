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b0ed8637594e6e" /><Relationship Type="http://schemas.openxmlformats.org/officeDocument/2006/relationships/extended-properties" Target="/docProps/app.xml" Id="Re84a8c0638354d9b" /><Relationship Type="http://schemas.openxmlformats.org/officeDocument/2006/relationships/officeDocument" Target="/ppt/presentation.xml" Id="Rafd3c59b6ae047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f1a4b3869d4e36"/>
  </p:sldMasterIdLst>
  <p:notesMasterIdLst>
    <p:notesMasterId xmlns:r="http://schemas.openxmlformats.org/officeDocument/2006/relationships" r:id="R493b7c5e11f54831"/>
  </p:notesMasterIdLst>
  <p:sldIdLst>
    <p:sldId xmlns:r="http://schemas.openxmlformats.org/officeDocument/2006/relationships" id="256" r:id="R2b623e12371445bd"/>
    <p:sldId xmlns:r="http://schemas.openxmlformats.org/officeDocument/2006/relationships" id="257" r:id="Rb799d01a5f544ed2"/>
    <p:sldId xmlns:r="http://schemas.openxmlformats.org/officeDocument/2006/relationships" id="258" r:id="R008b83929abb4540"/>
    <p:sldId xmlns:r="http://schemas.openxmlformats.org/officeDocument/2006/relationships" id="259" r:id="Rae57fb546ea64d58"/>
    <p:sldId xmlns:r="http://schemas.openxmlformats.org/officeDocument/2006/relationships" id="260" r:id="R6127e828a36147a7"/>
    <p:sldId xmlns:r="http://schemas.openxmlformats.org/officeDocument/2006/relationships" id="261" r:id="R8093c2d38bb646b7"/>
    <p:sldId xmlns:r="http://schemas.openxmlformats.org/officeDocument/2006/relationships" id="262" r:id="R1fe7d6bd15794222"/>
    <p:sldId xmlns:r="http://schemas.openxmlformats.org/officeDocument/2006/relationships" id="263" r:id="Re1de262c243d4bda"/>
    <p:sldId xmlns:r="http://schemas.openxmlformats.org/officeDocument/2006/relationships" id="264" r:id="Rc88257f7f1c345ff"/>
    <p:sldId xmlns:r="http://schemas.openxmlformats.org/officeDocument/2006/relationships" id="265" r:id="Ra1d7d9a57b3f4274"/>
    <p:sldId xmlns:r="http://schemas.openxmlformats.org/officeDocument/2006/relationships" id="266" r:id="R79b97460b33b4d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d57a567f7d4f44" /><Relationship Type="http://schemas.openxmlformats.org/officeDocument/2006/relationships/slideMaster" Target="/ppt/slideMasters/slideMaster1.xml" Id="R4cf1a4b3869d4e36" /><Relationship Type="http://schemas.openxmlformats.org/officeDocument/2006/relationships/notesMaster" Target="/ppt/notesMasters/notesMaster1.xml" Id="R493b7c5e11f54831" /><Relationship Type="http://schemas.openxmlformats.org/officeDocument/2006/relationships/presProps" Target="/ppt/presProps.xml" Id="Rc1aeed8ba31f41fc" /><Relationship Type="http://schemas.openxmlformats.org/officeDocument/2006/relationships/tableStyles" Target="/ppt/tableStyles.xml" Id="Rc7bb53795c014b5b" /><Relationship Type="http://schemas.openxmlformats.org/officeDocument/2006/relationships/slide" Target="/ppt/slides/slide1.xml" Id="R2b623e12371445bd" /><Relationship Type="http://schemas.openxmlformats.org/officeDocument/2006/relationships/slide" Target="/ppt/slides/slide2.xml" Id="Rb799d01a5f544ed2" /><Relationship Type="http://schemas.openxmlformats.org/officeDocument/2006/relationships/slide" Target="/ppt/slides/slide3.xml" Id="R008b83929abb4540" /><Relationship Type="http://schemas.openxmlformats.org/officeDocument/2006/relationships/slide" Target="/ppt/slides/slide4.xml" Id="Rae57fb546ea64d58" /><Relationship Type="http://schemas.openxmlformats.org/officeDocument/2006/relationships/slide" Target="/ppt/slides/slide5.xml" Id="R6127e828a36147a7" /><Relationship Type="http://schemas.openxmlformats.org/officeDocument/2006/relationships/slide" Target="/ppt/slides/slide6.xml" Id="R8093c2d38bb646b7" /><Relationship Type="http://schemas.openxmlformats.org/officeDocument/2006/relationships/slide" Target="/ppt/slides/slide7.xml" Id="R1fe7d6bd15794222" /><Relationship Type="http://schemas.openxmlformats.org/officeDocument/2006/relationships/slide" Target="/ppt/slides/slide8.xml" Id="Re1de262c243d4bda" /><Relationship Type="http://schemas.openxmlformats.org/officeDocument/2006/relationships/slide" Target="/ppt/slides/slide9.xml" Id="Rc88257f7f1c345ff" /><Relationship Type="http://schemas.openxmlformats.org/officeDocument/2006/relationships/slide" Target="/ppt/slides/slide10.xml" Id="Ra1d7d9a57b3f4274" /><Relationship Type="http://schemas.openxmlformats.org/officeDocument/2006/relationships/slide" Target="/ppt/slides/slide11.xml" Id="R79b97460b33b4d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ae15578f4b42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95406afed84c2d" /><Relationship Type="http://schemas.openxmlformats.org/officeDocument/2006/relationships/notesMaster" Target="/ppt/notesMasters/notesMaster1.xml" Id="R63fdf74df4e647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48680c768c4f29" /><Relationship Type="http://schemas.openxmlformats.org/officeDocument/2006/relationships/notesMaster" Target="/ppt/notesMasters/notesMaster1.xml" Id="R24447f48c4fe48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249ce4859e48c8" /><Relationship Type="http://schemas.openxmlformats.org/officeDocument/2006/relationships/notesMaster" Target="/ppt/notesMasters/notesMaster1.xml" Id="R5be57a15b1c54f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faa88cd3e2438c" /><Relationship Type="http://schemas.openxmlformats.org/officeDocument/2006/relationships/notesMaster" Target="/ppt/notesMasters/notesMaster1.xml" Id="Ra81e97913e3a48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0fc8879b754301" /><Relationship Type="http://schemas.openxmlformats.org/officeDocument/2006/relationships/notesMaster" Target="/ppt/notesMasters/notesMaster1.xml" Id="R4279b916fedd45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e3da82f78e43fe" /><Relationship Type="http://schemas.openxmlformats.org/officeDocument/2006/relationships/notesMaster" Target="/ppt/notesMasters/notesMaster1.xml" Id="Rea57aac07f4e46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3cfde7c3fd4bbd" /><Relationship Type="http://schemas.openxmlformats.org/officeDocument/2006/relationships/notesMaster" Target="/ppt/notesMasters/notesMaster1.xml" Id="R2d97d9d600014f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af1a4387544df0" /><Relationship Type="http://schemas.openxmlformats.org/officeDocument/2006/relationships/notesMaster" Target="/ppt/notesMasters/notesMaster1.xml" Id="R8db1d0275ba042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8556da5d254498" /><Relationship Type="http://schemas.openxmlformats.org/officeDocument/2006/relationships/notesMaster" Target="/ppt/notesMasters/notesMaster1.xml" Id="Ree6b9e66578146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6116497b4942ad" /><Relationship Type="http://schemas.openxmlformats.org/officeDocument/2006/relationships/notesMaster" Target="/ppt/notesMasters/notesMaster1.xml" Id="R3d67527eb6b24b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5003b1062f4436" /><Relationship Type="http://schemas.openxmlformats.org/officeDocument/2006/relationships/notesMaster" Target="/ppt/notesMasters/notesMaster1.xml" Id="R44e82294978e45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Apresentação unificada criada a partir dos arquivos do projeto. Não havia slides anteriores na pasta.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src/mergeSort/merge.ts (arquivos locais do projeto).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src/mergeSort/iterativo.ts (arquivos locais do projeto).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src/mergeSort/recursivo.ts (arquivos locais do projeto).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Saída real de npm run demo.</a:t>
            </a:r>
          </a:p>
          <a:p xmlns:a="http://schemas.openxmlformats.org/drawingml/2006/main">
            <a:r>
              <a:t>01 DIVIDE: [10, 3, 7, 20, 1, 2, 11, 0, 5, 4] -&gt; [10, 3, 7, 20, 1] | [2, 11, 0, 5, 4]</a:t>
            </a:r>
          </a:p>
          <a:p xmlns:a="http://schemas.openxmlformats.org/drawingml/2006/main">
            <a:r>
              <a:t>02   DIVIDE: [10, 3, 7, 20, 1] -&gt; [10, 3] | [7, 20, 1]</a:t>
            </a:r>
          </a:p>
          <a:p xmlns:a="http://schemas.openxmlformats.org/drawingml/2006/main">
            <a:r>
              <a:t>03     DIVIDE: [10, 3] -&gt; [10] | [3]</a:t>
            </a:r>
          </a:p>
          <a:p xmlns:a="http://schemas.openxmlformats.org/drawingml/2006/main">
            <a:r>
              <a:t>04       BASE: [10] (já ordenado)</a:t>
            </a:r>
          </a:p>
          <a:p xmlns:a="http://schemas.openxmlformats.org/drawingml/2006/main">
            <a:r>
              <a:t>05       BASE: [3] (já ordenado)</a:t>
            </a:r>
          </a:p>
          <a:p xmlns:a="http://schemas.openxmlformats.org/drawingml/2006/main">
            <a:r>
              <a:t>06     INTERCALA: [10] + [3] -&gt; [3, 10]</a:t>
            </a:r>
          </a:p>
          <a:p xmlns:a="http://schemas.openxmlformats.org/drawingml/2006/main">
            <a:r>
              <a:t>07     DIVIDE: [7, 20, 1] -&gt; [7] | [20, 1]</a:t>
            </a:r>
          </a:p>
          <a:p xmlns:a="http://schemas.openxmlformats.org/drawingml/2006/main">
            <a:r>
              <a:t>08       BASE: [7] (já ordenado)</a:t>
            </a:r>
          </a:p>
          <a:p xmlns:a="http://schemas.openxmlformats.org/drawingml/2006/main">
            <a:r>
              <a:t>BASE indica vetor com zero ou um elemento, já ordenado. DIVIDE separa as metades. INTERCALA une metades ordenadas.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Saída real de npm run demo.</a:t>
            </a:r>
          </a:p>
          <a:p xmlns:a="http://schemas.openxmlformats.org/drawingml/2006/main">
            <a:r>
              <a:t>09       DIVIDE: [20, 1] -&gt; [20] | [1]</a:t>
            </a:r>
          </a:p>
          <a:p xmlns:a="http://schemas.openxmlformats.org/drawingml/2006/main">
            <a:r>
              <a:t>10         BASE: [20] (já ordenado)</a:t>
            </a:r>
          </a:p>
          <a:p xmlns:a="http://schemas.openxmlformats.org/drawingml/2006/main">
            <a:r>
              <a:t>11         BASE: [1] (já ordenado)</a:t>
            </a:r>
          </a:p>
          <a:p xmlns:a="http://schemas.openxmlformats.org/drawingml/2006/main">
            <a:r>
              <a:t>12       INTERCALA: [20] + [1] -&gt; [1, 20]</a:t>
            </a:r>
          </a:p>
          <a:p xmlns:a="http://schemas.openxmlformats.org/drawingml/2006/main">
            <a:r>
              <a:t>13     INTERCALA: [7] + [1, 20] -&gt; [1, 7, 20]</a:t>
            </a:r>
          </a:p>
          <a:p xmlns:a="http://schemas.openxmlformats.org/drawingml/2006/main">
            <a:r>
              <a:t>14   INTERCALA: [3, 10] + [1, 7, 20] -&gt; [1, 3, 7, 10, 20]</a:t>
            </a:r>
          </a:p>
          <a:p xmlns:a="http://schemas.openxmlformats.org/drawingml/2006/main">
            <a:r>
              <a:t>15   DIVIDE: [2, 11, 0, 5, 4] -&gt; [2, 11] | [0, 5, 4]</a:t>
            </a:r>
          </a:p>
          <a:p xmlns:a="http://schemas.openxmlformats.org/drawingml/2006/main">
            <a:r>
              <a:t>BASE indica vetor com zero ou um elemento, já ordenado. DIVIDE separa as metades. INTERCALA une metades ordenadas.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Saída real de npm run demo.</a:t>
            </a:r>
          </a:p>
          <a:p xmlns:a="http://schemas.openxmlformats.org/drawingml/2006/main">
            <a:r>
              <a:t>16     DIVIDE: [2, 11] -&gt; [2] | [11]</a:t>
            </a:r>
          </a:p>
          <a:p xmlns:a="http://schemas.openxmlformats.org/drawingml/2006/main">
            <a:r>
              <a:t>17       BASE: [2] (já ordenado)</a:t>
            </a:r>
          </a:p>
          <a:p xmlns:a="http://schemas.openxmlformats.org/drawingml/2006/main">
            <a:r>
              <a:t>18       BASE: [11] (já ordenado)</a:t>
            </a:r>
          </a:p>
          <a:p xmlns:a="http://schemas.openxmlformats.org/drawingml/2006/main">
            <a:r>
              <a:t>19     INTERCALA: [2] + [11] -&gt; [2, 11]</a:t>
            </a:r>
          </a:p>
          <a:p xmlns:a="http://schemas.openxmlformats.org/drawingml/2006/main">
            <a:r>
              <a:t>20     DIVIDE: [0, 5, 4] -&gt; [0] | [5, 4]</a:t>
            </a:r>
          </a:p>
          <a:p xmlns:a="http://schemas.openxmlformats.org/drawingml/2006/main">
            <a:r>
              <a:t>21       BASE: [0] (já ordenado)</a:t>
            </a:r>
          </a:p>
          <a:p xmlns:a="http://schemas.openxmlformats.org/drawingml/2006/main">
            <a:r>
              <a:t>22       DIVIDE: [5, 4] -&gt; [5] | [4]</a:t>
            </a:r>
          </a:p>
          <a:p xmlns:a="http://schemas.openxmlformats.org/drawingml/2006/main">
            <a:r>
              <a:t>BASE indica vetor com zero ou um elemento, já ordenado. DIVIDE separa as metades. INTERCALA une metades ordenadas.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Saída real de npm run demo.</a:t>
            </a:r>
          </a:p>
          <a:p xmlns:a="http://schemas.openxmlformats.org/drawingml/2006/main">
            <a:r>
              <a:t>23         BASE: [5] (já ordenado)</a:t>
            </a:r>
          </a:p>
          <a:p xmlns:a="http://schemas.openxmlformats.org/drawingml/2006/main">
            <a:r>
              <a:t>24         BASE: [4] (já ordenado)</a:t>
            </a:r>
          </a:p>
          <a:p xmlns:a="http://schemas.openxmlformats.org/drawingml/2006/main">
            <a:r>
              <a:t>25       INTERCALA: [5] + [4] -&gt; [4, 5]</a:t>
            </a:r>
          </a:p>
          <a:p xmlns:a="http://schemas.openxmlformats.org/drawingml/2006/main">
            <a:r>
              <a:t>26     INTERCALA: [0] + [4, 5] -&gt; [0, 4, 5]</a:t>
            </a:r>
          </a:p>
          <a:p xmlns:a="http://schemas.openxmlformats.org/drawingml/2006/main">
            <a:r>
              <a:t>27   INTERCALA: [2, 11] + [0, 4, 5] -&gt; [0, 2, 4, 5, 11]</a:t>
            </a:r>
          </a:p>
          <a:p xmlns:a="http://schemas.openxmlformats.org/drawingml/2006/main">
            <a:r>
              <a:t>BASE indica vetor com zero ou um elemento, já ordenado. DIVIDE separa as metades. INTERCALA une metades ordenadas.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apresentacao/demo-saida.txt (arquivos locais do projeto).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src/mergeSort/recursivo.ts; src/mergeSort/iterativo.ts; src/mergeSort/merge.ts (arquivos locais do projeto).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package.json; tests/mergeSort.test.cjs; apresentacao/demo-saida.txt (arquivos locais do projeto).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94bc640f942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0119b9200246d8" /><Relationship Type="http://schemas.openxmlformats.org/officeDocument/2006/relationships/slideLayout" Target="/ppt/slideLayouts/slideLayout1.xml" Id="R1d81a5b01cf74b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81a5b01cf74b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70018a87d4b0b" /><Relationship Type="http://schemas.openxmlformats.org/officeDocument/2006/relationships/notesSlide" Target="/ppt/notesSlides/notesSlide1.xml" Id="Rf60bc88a38d345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d7b1f5dd34df9" /><Relationship Type="http://schemas.openxmlformats.org/officeDocument/2006/relationships/notesSlide" Target="/ppt/notesSlides/notesSlide2.xml" Id="R629927fcace94b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a9611d7184595" /><Relationship Type="http://schemas.openxmlformats.org/officeDocument/2006/relationships/notesSlide" Target="/ppt/notesSlides/notesSlide3.xml" Id="Recc6daa06cdd48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fc956dfc94919" /><Relationship Type="http://schemas.openxmlformats.org/officeDocument/2006/relationships/notesSlide" Target="/ppt/notesSlides/notesSlide4.xml" Id="Rf5f0f41bfada41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b6471f8ff4400" /><Relationship Type="http://schemas.openxmlformats.org/officeDocument/2006/relationships/notesSlide" Target="/ppt/notesSlides/notesSlide5.xml" Id="Rfc6046a0df1d4b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3173c1587425d" /><Relationship Type="http://schemas.openxmlformats.org/officeDocument/2006/relationships/notesSlide" Target="/ppt/notesSlides/notesSlide6.xml" Id="Ra4e20dac4d4a43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5abb68ed346ba" /><Relationship Type="http://schemas.openxmlformats.org/officeDocument/2006/relationships/notesSlide" Target="/ppt/notesSlides/notesSlide7.xml" Id="R7595881061474c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4f952c5034878" /><Relationship Type="http://schemas.openxmlformats.org/officeDocument/2006/relationships/notesSlide" Target="/ppt/notesSlides/notesSlide8.xml" Id="Re69ef94a32394a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e4c52d3b54bb9" /><Relationship Type="http://schemas.openxmlformats.org/officeDocument/2006/relationships/notesSlide" Target="/ppt/notesSlides/notesSlide9.xml" Id="Rc59332af79e941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724206e9942ea" /><Relationship Type="http://schemas.openxmlformats.org/officeDocument/2006/relationships/notesSlide" Target="/ppt/notesSlides/notesSlide10.xml" Id="R87b133d249854e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1f64cc59a47bb" /><Relationship Type="http://schemas.openxmlformats.org/officeDocument/2006/relationships/notesSlide" Target="/ppt/notesSlides/notesSlide11.xml" Id="R6b4ccb79215d48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DA48E-EB96-488B-A0B6-78CC4E25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ESTRUTURA DE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AFEC0-2AE7-42D2-8FFD-94610673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12776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Merge Sort</a:t>
            </a:r>
          </a:p>
          <a:p xmlns:a="http://schemas.openxmlformats.org/drawingml/2006/main">
            <a:pPr>
              <a:defRPr sz="5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Duas formas de ordenar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31B9F-4115-42CD-9AE8-542210F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277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Versão iterativa + versão recursiva</a:t>
            </a:r>
          </a:p>
          <a:p xmlns:a="http://schemas.openxmlformats.org/drawingml/2006/main">
            <a:pPr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Demonstração com o vetor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343686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22AA3-9927-4045-B247-42544244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Intercalar é a operação central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FF1AB-6AA0-43D5-AA81-304C6366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ESTRUTURA DE DADOS  /  MERGE SORT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C082F-99BA-4D05-A436-9A15902F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4CB54-BB02-43F3-ABE0-84E4A9A7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546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Duas entradas ordenadas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15E5E-322C-4707-8EEA-7D6F14EE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Compare os primeiros valores disponíveis.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Copie o menor e avance nessa entrada.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Ao esgotar uma metade, copie o restante.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1CFC9-DC0C-4759-99C9-B323EACD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28825"/>
            <a:ext cx="546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Um resultado ordenado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5874C-96C4-4AF9-8FB3-F35D4CFD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[3, 10] + [1, 7, 20]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 → 3 → 7 → 10 →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 empate, o operador &lt;= escolhe a esquerda e preserva a estabilidade.</a:t>
            </a:r>
          </a:p>
        </p:txBody>
      </p:sp>
    </p:spTree>
    <p:extLst>
      <p:ext uri="{BB962C8B-B14F-4D97-AF65-F5344CB8AC3E}">
        <p14:creationId xmlns:p14="http://schemas.microsoft.com/office/powerpoint/2010/main" val="17230822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623B35-051E-4C0A-B7CA-72670EF6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versão iterativa aumenta os blocos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E302B-6D01-4FED-A79F-DD2A11FF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ESTRUTURA DE DADOS  /  MERGE SORT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4E3BB-668A-4EC6-A1E9-C1EDA033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A5B39-D878-4EAA-9C45-B5790705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Largura 1 → 2 → 4 → 8; cada passagem junta blocos vizinhos.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0A84C-4787-45B7-857F-8E9E79FC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187AE-1BA7-463C-B7F6-2BB6AACB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47900"/>
            <a:ext cx="9686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10, 3, 7, 20, 1, 2, 11, 0, 5, 4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164D8-841E-4160-8A86-0DCB6060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432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D3E8C-2FF9-4D51-B5C9-DC3C4C3B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43225"/>
            <a:ext cx="9686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3, 10 | 7, 20 | 1, 2 | 0, 11 | 4,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18E4E-4461-4D61-94E6-2B23E7C5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F7DEE-A1D5-4B3E-BE8E-5F085ECB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38550"/>
            <a:ext cx="9686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3, 7, 10, 20 | 0, 1, 2, 11 | 4,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D426C-577C-4122-A5A9-4AAE6BC5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1CF4E-931B-45E9-BFC2-B51510F9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333875"/>
            <a:ext cx="9686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0, 1, 2, 3, 7, 10, 11, 20 | 4,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D4FD3-85B0-4CA6-8087-124C457F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4382F-EA5C-4395-B1F1-E83A1A2F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29200"/>
            <a:ext cx="9686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0, 1, 2, 3, 4, 5, 7, 10, 11, 20</a:t>
            </a:r>
          </a:p>
        </p:txBody>
      </p:sp>
    </p:spTree>
    <p:extLst>
      <p:ext uri="{BB962C8B-B14F-4D97-AF65-F5344CB8AC3E}">
        <p14:creationId xmlns:p14="http://schemas.microsoft.com/office/powerpoint/2010/main" val="5247358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59C11-F3D9-4F1D-9712-F8E60E82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recursão divide antes de intercalar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F66C4-5CAB-4BF5-BC69-20358A3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ESTRUTURA DE DADOS  /  MERGE SORT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B3E2A-8656-4586-A2E1-127A2C95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0C118-A05C-474F-9BB9-CE27EFD4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546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Caso-base e divisão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D9B3F-C2C0-4F82-8706-963ADFED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 o tamanho for 0 ou 1, retorne uma cópia.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Calcule o meio com Math.floor(n / 2).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Separe as metades com slice.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F460B-5EA5-41FD-983E-DDC18FEB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28825"/>
            <a:ext cx="546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Chamadas e retorno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6C640-560B-459D-921E-46335A39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Ordene recursivamente a esquerda.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Ordene recursivamente a direita.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Retorne merge(esquerdaOrdenada, direitaOrdenada).</a:t>
            </a:r>
          </a:p>
        </p:txBody>
      </p:sp>
    </p:spTree>
    <p:extLst>
      <p:ext uri="{BB962C8B-B14F-4D97-AF65-F5344CB8AC3E}">
        <p14:creationId xmlns:p14="http://schemas.microsoft.com/office/powerpoint/2010/main" val="1115965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A4CE2-9A14-43E7-B82C-974A364E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divisão começa pela esquerda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E2348-65DD-4410-BF1D-EE8B8CB3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ESTRUTURA DE DADOS  /  MERGE SORT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A4839-97C9-4D2C-813E-0B8239AD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24ADA-0E7B-42E3-A972-630CBD0E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Passos 1–8 da execução • recuo indica a profundidade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A51DF-37B8-4CEF-A856-1F18EC04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01 DIVIDE: [10,3,7,20,1,2,11,0,5,4] -&gt; [10,3,7,20,1] | [2,11,0,5,4]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9E3F0-66B0-45A9-BF4B-7E176434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02   DIVIDE: [10,3,7,20,1] -&gt; [10,3] | [7,20,1]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513F6-4596-422E-B514-274E93E7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03     DIVIDE: [10,3] -&gt; [10] | [3]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F18A8-108F-482A-B033-F7FE557A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757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04       BASE: [10]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4103F-13FA-425B-A462-BD60406B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05       BASE: [3]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24FB7-A3CA-4943-9A17-75D46B66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910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6247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6247"/>
                </a:solidFill>
                <a:latin typeface="Consolas"/>
                <a:ea typeface="Consolas"/>
                <a:cs typeface="Consolas"/>
              </a:rPr>
              <a:t>06     INTERCALA: [10] + [3] -&gt; [3,10]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3A253-45CB-4344-B7B4-4CB41B20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07     DIVIDE: [7,20,1] -&gt; [7] | [20,1]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5CFE4-2CBA-4D72-9766-834E4561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2447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08       BASE: [7]</a:t>
            </a:r>
          </a:p>
        </p:txBody>
      </p:sp>
    </p:spTree>
    <p:extLst>
      <p:ext uri="{BB962C8B-B14F-4D97-AF65-F5344CB8AC3E}">
        <p14:creationId xmlns:p14="http://schemas.microsoft.com/office/powerpoint/2010/main" val="12807800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FC13A-3922-4E85-9566-A9EDD88F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metade esquerda fica ordenada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C9CD5-64A7-4175-8E29-FEF6B77D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ESTRUTURA DE DADOS  /  MERGE SORT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0142A-99CE-4045-8242-6549AB16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D810B-C87D-4B6F-9CEB-5638C7E8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Passos 9–15 da execução • recuo indica a profundidade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7887E-4F16-488F-BCA4-4E5BCE4A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09       DIVIDE: [20,1] -&gt; [20] | [1]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37EAE-EC49-4123-94A4-0520369F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10         BASE: [20]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50219-346C-4B69-9CED-B3779604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11         BASE: [1]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D4A0F-D257-447C-AEB0-D13C5E48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757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6247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6247"/>
                </a:solidFill>
                <a:latin typeface="Consolas"/>
                <a:ea typeface="Consolas"/>
                <a:cs typeface="Consolas"/>
              </a:rPr>
              <a:t>12       INTERCALA: [20] + [1] -&gt; [1,20]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E7CB2-FFEE-4522-850D-2E53C5BE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6247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6247"/>
                </a:solidFill>
                <a:latin typeface="Consolas"/>
                <a:ea typeface="Consolas"/>
                <a:cs typeface="Consolas"/>
              </a:rPr>
              <a:t>13     INTERCALA: [7] + [1,20] -&gt; [1,7,20]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B8B26-44D2-4D15-89AE-9A2FAB93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910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6247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6247"/>
                </a:solidFill>
                <a:latin typeface="Consolas"/>
                <a:ea typeface="Consolas"/>
                <a:cs typeface="Consolas"/>
              </a:rPr>
              <a:t>14   INTERCALA: [3,10] + [1,7,20] -&gt; [1,3,7,10,20]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151F5-B932-408D-AA9F-05C07BB4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15   DIVIDE: [2,11,0,5,4] -&gt; [2,11] | [0,5,4]</a:t>
            </a:r>
          </a:p>
        </p:txBody>
      </p:sp>
    </p:spTree>
    <p:extLst>
      <p:ext uri="{BB962C8B-B14F-4D97-AF65-F5344CB8AC3E}">
        <p14:creationId xmlns:p14="http://schemas.microsoft.com/office/powerpoint/2010/main" val="275469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C068D-EA8E-409D-BED0-8E9C402B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recursão avança pela direita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94C36-8BF9-4A04-8474-D6C46830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ESTRUTURA DE DADOS  /  MERGE SORT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D61C3-EF88-45D5-B63A-ECA84447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1D797-C9F2-4894-940A-C332ED28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Passos 16–22 da execução • recuo indica a profundidade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2A3F2-6F16-40EE-9C04-F4BCAB1A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16     DIVIDE: [2,11] -&gt; [2] | [11]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C781A-E3F6-464F-8510-A258C0AD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17       BASE: [2]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5BE65-C91F-4B9C-8522-676DD316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18       BASE: [11]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0C67C-D6AB-4D44-9390-AE418D0A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757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6247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6247"/>
                </a:solidFill>
                <a:latin typeface="Consolas"/>
                <a:ea typeface="Consolas"/>
                <a:cs typeface="Consolas"/>
              </a:rPr>
              <a:t>19     INTERCALA: [2] + [11] -&gt; [2,11]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710DF-A8F3-466D-83DB-F3364219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20     DIVIDE: [0,5,4] -&gt; [0] | [5,4]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83E27-5CA9-4ACC-849D-373BD6A8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910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21       BASE: [0]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E561A-A14A-4C00-B640-678563F1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22       DIVIDE: [5,4] -&gt; [5] | [4]</a:t>
            </a:r>
          </a:p>
        </p:txBody>
      </p:sp>
    </p:spTree>
    <p:extLst>
      <p:ext uri="{BB962C8B-B14F-4D97-AF65-F5344CB8AC3E}">
        <p14:creationId xmlns:p14="http://schemas.microsoft.com/office/powerpoint/2010/main" val="5015077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E6CE1-0888-485F-978D-5F98E73E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metade direita fica ordenada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9A0E2-6C12-4F0D-B3B0-3D681052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ESTRUTURA DE DADOS  /  MERGE SORT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C89BD-BC10-4504-AEFF-EEA9D66C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31257-0260-40B4-BFFB-B77F6C80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Passos 23–27 da execução • recuo indica a profundidade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A0C53-C75E-4732-AF94-17669F07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23         BASE: [5]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13217-1DA2-4ED8-A2B7-E557BABF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24         BASE: [4]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D7071-A35A-4503-8F15-BB31AB1A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6247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6247"/>
                </a:solidFill>
                <a:latin typeface="Consolas"/>
                <a:ea typeface="Consolas"/>
                <a:cs typeface="Consolas"/>
              </a:rPr>
              <a:t>25       INTERCALA: [5] + [4] -&gt; [4,5]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DFB5B-5830-4E6F-913F-E9FC7B03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757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6247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6247"/>
                </a:solidFill>
                <a:latin typeface="Consolas"/>
                <a:ea typeface="Consolas"/>
                <a:cs typeface="Consolas"/>
              </a:rPr>
              <a:t>26     INTERCALA: [0] + [4,5] -&gt; [0,4,5]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E8D42-C473-4E24-972B-52638CE3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6247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6247"/>
                </a:solidFill>
                <a:latin typeface="Consolas"/>
                <a:ea typeface="Consolas"/>
                <a:cs typeface="Consolas"/>
              </a:rPr>
              <a:t>27   INTERCALA: [2,11] + [0,4,5] -&gt; [0,2,4,5,11]</a:t>
            </a:r>
          </a:p>
        </p:txBody>
      </p:sp>
    </p:spTree>
    <p:extLst>
      <p:ext uri="{BB962C8B-B14F-4D97-AF65-F5344CB8AC3E}">
        <p14:creationId xmlns:p14="http://schemas.microsoft.com/office/powerpoint/2010/main" val="6160858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B3C70-D691-400F-ADDF-221734A5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última intercalação entrega o resultado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C4E9E-33D3-4A52-890D-0CCFEDD0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ESTRUTURA DE DADOS  /  MERGE SORT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31039-43E2-4311-8C78-BA177722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0BC1C-3C9E-4214-A6AB-28246255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PASSO 28  /  DUAS METADES ORDENADAS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99144-0289-47CC-B6D1-8A321CB6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27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[1, 3, 7, 10, 20]  +  [0, 2, 4, 5, 11]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A6C81-0DCB-47A6-9347-85BEB4D8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247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76247"/>
                </a:solidFill>
                <a:latin typeface="Consolas"/>
                <a:ea typeface="Consolas"/>
                <a:cs typeface="Consolas"/>
              </a:rPr>
              <a:t>[0, 1, 2, 3, 4, 5, 7, 10, 11, 20]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138F2-EB95-49FE-AC71-795F6467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277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 divisões • 10 casos-base • 9 intercalações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 vetor original permanece intacto.</a:t>
            </a:r>
          </a:p>
        </p:txBody>
      </p:sp>
    </p:spTree>
    <p:extLst>
      <p:ext uri="{BB962C8B-B14F-4D97-AF65-F5344CB8AC3E}">
        <p14:creationId xmlns:p14="http://schemas.microsoft.com/office/powerpoint/2010/main" val="196606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A074C-1A33-423C-8387-A3F4EFB3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custo depende da implementação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A36C3-C22F-476F-90F9-C130C9EF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ESTRUTURA DE DADOS  /  MERGE SORT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E771B-C06B-49F2-81A0-8F0E8524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A0A8A-7191-4BC4-861D-7E6771EE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546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Recursiva deste projeto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29A3A-E870-4C6E-9471-E41CE60A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Tempo: O(n log n).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Memória auxiliar: O(n).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Pilha de chamadas: O(log n).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Análise sem armazenar o histórico da demonstração.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9D6A5-6E43-4B17-83EC-73EB5B7C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28825"/>
            <a:ext cx="546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Iterativa deste projeto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E3318-0211-4DB9-B9D1-0354846C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Não usa chamadas recursivas.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 concat repetido copia o prefixo acumulado: pode custar O(n²).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 escrita em buffer, a versão iterativa clássica tem O(n log n).</a:t>
            </a:r>
          </a:p>
        </p:txBody>
      </p:sp>
    </p:spTree>
    <p:extLst>
      <p:ext uri="{BB962C8B-B14F-4D97-AF65-F5344CB8AC3E}">
        <p14:creationId xmlns:p14="http://schemas.microsoft.com/office/powerpoint/2010/main" val="15777878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D8636-716A-4746-AC1D-2BBCA53F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mesmo vetor, o mesmo resultado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5F499-65BD-4548-BE65-E159E19D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ESTRUTURA DE DADOS  /  MERGE SORT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5AEEB-0365-4D43-A933-81A8ED66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3DC70-8E77-4F19-8388-1D4611E7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546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Executar o trabalho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FE00D-45A0-44B8-BFBE-A0AAA742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npm 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npm 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npm run 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npm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1CB7D-F702-4232-BFA3-68466501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28825"/>
            <a:ext cx="546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que a execução confirma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D8869-3E46-45E3-BDF6-EAB71A2A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 duas versões ordenam a referência.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recursão termina no caso-base.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Cada retorno intercala partes já ordenadas.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 testes passaram.</a:t>
            </a:r>
          </a:p>
        </p:txBody>
      </p:sp>
    </p:spTree>
    <p:extLst>
      <p:ext uri="{BB962C8B-B14F-4D97-AF65-F5344CB8AC3E}">
        <p14:creationId xmlns:p14="http://schemas.microsoft.com/office/powerpoint/2010/main" val="1476533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2026-08-31T11:58:30.0830000Z</dcterms:created>
  <dcterms:modified xsi:type="dcterms:W3CDTF">2026-08-31T11:58:30.0830000Z</dcterms:modified>
</coreProperties>
</file>